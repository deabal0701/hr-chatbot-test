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1016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B9ED6"/>
                </a:solidFill>
              </a:rPr>
              <a:t>01  </a:t>
            </a:r>
            <a:r>
              <a:rPr sz="2200" b="1" i="0">
                <a:solidFill>
                  <a:srgbClr val="FFFFFF"/>
                </a:solidFill>
              </a:rPr>
              <a:t>MUREUM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787400"/>
            <a:ext cx="50800" cy="5334000"/>
          </a:xfrm>
          <a:prstGeom prst="rect">
            <a:avLst/>
          </a:prstGeom>
          <a:solidFill>
            <a:srgbClr val="3B9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115568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1. MUREUM이란?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81100"/>
            <a:ext cx="1115568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600"/>
              </a:lnSpc>
              <a:defRPr sz="1050" b="0" i="0">
                <a:solidFill>
                  <a:srgbClr val="4A4A4A"/>
                </a:solidFill>
              </a:defRPr>
            </a:pPr>
            <a:r>
              <a:t>회사에 쌓여 있는 데이터와 문서, 활용하고 싶지만 이런 어려움이 있지 않으셨나요?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1460500"/>
            <a:ext cx="11155680" cy="711200"/>
          </a:xfrm>
          <a:prstGeom prst="roundRect">
            <a:avLst>
              <a:gd name="adj" fmla="val 15000"/>
            </a:avLst>
          </a:prstGeom>
          <a:solidFill>
            <a:srgbClr val="EEF5FB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9800" y="1536700"/>
            <a:ext cx="1080008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600"/>
              </a:lnSpc>
            </a:pPr>
            <a:r>
              <a:rPr sz="900" b="1" i="0">
                <a:solidFill>
                  <a:srgbClr val="E86B30"/>
                </a:solidFill>
              </a:rPr>
              <a:t>●  </a:t>
            </a:r>
            <a:r>
              <a:rPr sz="1000" b="0" i="0">
                <a:solidFill>
                  <a:srgbClr val="4A4A4A"/>
                </a:solidFill>
              </a:rPr>
              <a:t>"데이터를 보려면 IT팀에 요청해야 해서 며칠씩 걸린다"</a:t>
            </a:r>
          </a:p>
          <a:p>
            <a:pPr algn="l">
              <a:lnSpc>
                <a:spcPts val="1600"/>
              </a:lnSpc>
            </a:pPr>
            <a:r>
              <a:rPr sz="900" b="1" i="0">
                <a:solidFill>
                  <a:srgbClr val="E86B30"/>
                </a:solidFill>
              </a:rPr>
              <a:t>●  </a:t>
            </a:r>
            <a:r>
              <a:rPr sz="1000" b="0" i="0">
                <a:solidFill>
                  <a:srgbClr val="4A4A4A"/>
                </a:solidFill>
              </a:rPr>
              <a:t>"BI 도구는 너무 복잡해서 교육 없이는 사용이 어렵다"</a:t>
            </a:r>
          </a:p>
          <a:p>
            <a:pPr algn="l">
              <a:lnSpc>
                <a:spcPts val="1600"/>
              </a:lnSpc>
            </a:pPr>
            <a:r>
              <a:rPr sz="900" b="1" i="0">
                <a:solidFill>
                  <a:srgbClr val="E86B30"/>
                </a:solidFill>
              </a:rPr>
              <a:t>●  </a:t>
            </a:r>
            <a:r>
              <a:rPr sz="1000" b="0" i="0">
                <a:solidFill>
                  <a:srgbClr val="4A4A4A"/>
                </a:solidFill>
              </a:rPr>
              <a:t>"사내 매뉴얼이 어디 있는지 찾기가 힘들다"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273300"/>
            <a:ext cx="1115568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1" i="0">
                <a:solidFill>
                  <a:srgbClr val="3B9ED6"/>
                </a:solidFill>
              </a:rPr>
              <a:t>MUREUM</a:t>
            </a:r>
            <a:r>
              <a:rPr sz="1050" b="0" i="0">
                <a:solidFill>
                  <a:srgbClr val="222222"/>
                </a:solidFill>
              </a:rPr>
              <a:t>은 이런 문제를 해결합니다. 대화창에 </a:t>
            </a:r>
            <a:r>
              <a:rPr sz="1050" b="1" i="0">
                <a:solidFill>
                  <a:srgbClr val="3B9ED6"/>
                </a:solidFill>
              </a:rPr>
              <a:t>"이번 달 부서별 매출 현황 보여줘"</a:t>
            </a:r>
            <a:r>
              <a:rPr sz="1050" b="0" i="0">
                <a:solidFill>
                  <a:srgbClr val="222222"/>
                </a:solidFill>
              </a:rPr>
              <a:t> 라고 입력하면,</a:t>
            </a:r>
          </a:p>
          <a:p>
            <a:pPr algn="l">
              <a:lnSpc>
                <a:spcPts val="1700"/>
              </a:lnSpc>
            </a:pPr>
            <a:r>
              <a:rPr sz="1050" b="0" i="0">
                <a:solidFill>
                  <a:srgbClr val="222222"/>
                </a:solidFill>
              </a:rPr>
              <a:t>AI가 자동으로 데이터를 찾아서 표와 차트로 보여주고, 마음에 드는 결과는 </a:t>
            </a:r>
            <a:r>
              <a:rPr sz="1050" b="1" i="0">
                <a:solidFill>
                  <a:srgbClr val="3B9ED6"/>
                </a:solidFill>
              </a:rPr>
              <a:t>나만의 대시보드에 저장</a:t>
            </a:r>
            <a:r>
              <a:rPr sz="1050" b="0" i="0">
                <a:solidFill>
                  <a:srgbClr val="222222"/>
                </a:solidFill>
              </a:rPr>
              <a:t>까지 할 수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781300"/>
            <a:ext cx="6400800" cy="3048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/>
            <a:r>
              <a:rPr sz="1000" b="1">
                <a:solidFill>
                  <a:srgbClr val="FFFFFF"/>
                </a:solidFill>
              </a:rPr>
              <a:t>프로그래밍 지식도, 복잡한 도구 사용법도 필요 없습니다. 그냥 말로 물어보세요.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3238500"/>
            <a:ext cx="11155680" cy="12700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3365500"/>
            <a:ext cx="1115568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2. 핵심 기능 — 데이터베이스에 말로 질문하기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6957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600"/>
              </a:lnSpc>
            </a:pPr>
            <a:r>
              <a:rPr sz="1000" b="0" i="0">
                <a:solidFill>
                  <a:srgbClr val="4A4A4A"/>
                </a:solidFill>
              </a:rPr>
              <a:t>기존에는 전문가가 프로그래밍 언어로 질의문을 작성해야 했습니다. MUREUM은 </a:t>
            </a:r>
            <a:r>
              <a:rPr sz="1000" b="1" i="0">
                <a:solidFill>
                  <a:srgbClr val="3B9ED6"/>
                </a:solidFill>
              </a:rPr>
              <a:t>일상 언어를 자동으로 데이터 질의문으로 변환</a:t>
            </a:r>
            <a:r>
              <a:rPr sz="1000" b="0" i="0">
                <a:solidFill>
                  <a:srgbClr val="4A4A4A"/>
                </a:solidFill>
              </a:rPr>
              <a:t>하여 실시간으로 결과를 보여줍니다.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975100"/>
            <a:ext cx="5943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 i="0">
                <a:solidFill>
                  <a:srgbClr val="222222"/>
                </a:solidFill>
              </a:defRPr>
            </a:pPr>
            <a:r>
              <a:t>이렇게 사용합니다: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600" y="3975100"/>
            <a:ext cx="493776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 i="0">
                <a:solidFill>
                  <a:srgbClr val="222222"/>
                </a:solidFill>
              </a:defRPr>
            </a:pPr>
            <a:r>
              <a:t>무엇이 다른가요?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4229100"/>
            <a:ext cx="5943600" cy="114300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4330700"/>
            <a:ext cx="5588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i="0">
                <a:solidFill>
                  <a:srgbClr val="3B9ED6"/>
                </a:solidFill>
              </a:rPr>
              <a:t>나: </a:t>
            </a:r>
            <a:r>
              <a:rPr sz="1000" b="0" i="0">
                <a:solidFill>
                  <a:srgbClr val="222222"/>
                </a:solidFill>
              </a:rPr>
              <a:t>"부서별 인원수 알려줘"</a:t>
            </a:r>
          </a:p>
          <a:p>
            <a:pPr algn="l">
              <a:lnSpc>
                <a:spcPts val="1500"/>
              </a:lnSpc>
            </a:pPr>
            <a:r>
              <a:rPr sz="1000" b="1" i="0">
                <a:solidFill>
                  <a:srgbClr val="1E293B"/>
                </a:solidFill>
              </a:rPr>
              <a:t>MUREUM: </a:t>
            </a:r>
            <a:r>
              <a:rPr sz="950" b="0" i="0">
                <a:solidFill>
                  <a:srgbClr val="4A4A4A"/>
                </a:solidFill>
              </a:rPr>
              <a:t>영업부 25명, 개발팀 32명, 마케팅부 18명... (표 형태로 표시)</a:t>
            </a:r>
          </a:p>
          <a:p>
            <a:pPr algn="l">
              <a:lnSpc>
                <a:spcPts val="1500"/>
              </a:lnSpc>
            </a:pPr>
            <a:r>
              <a:rPr sz="600" b="0" i="0">
                <a:solidFill>
                  <a:srgbClr val="222222"/>
                </a:solidFill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000" b="1" i="0">
                <a:solidFill>
                  <a:srgbClr val="3B9ED6"/>
                </a:solidFill>
              </a:rPr>
              <a:t>나: </a:t>
            </a:r>
            <a:r>
              <a:rPr sz="1000" b="0" i="0">
                <a:solidFill>
                  <a:srgbClr val="222222"/>
                </a:solidFill>
              </a:rPr>
              <a:t>"그 중에서 개발팀만 연봉 순으로 보여줘"</a:t>
            </a:r>
          </a:p>
          <a:p>
            <a:pPr algn="l">
              <a:lnSpc>
                <a:spcPts val="1500"/>
              </a:lnSpc>
            </a:pPr>
            <a:r>
              <a:rPr sz="1000" b="1" i="0">
                <a:solidFill>
                  <a:srgbClr val="1E293B"/>
                </a:solidFill>
              </a:rPr>
              <a:t>MUREUM: </a:t>
            </a:r>
            <a:r>
              <a:rPr sz="950" b="0" i="0">
                <a:solidFill>
                  <a:srgbClr val="4A4A4A"/>
                </a:solidFill>
              </a:rPr>
              <a:t>(이전 대화를 기억하고) 개발팀 32명의 연봉 순위표를 표시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959600" y="4229100"/>
          <a:ext cx="49377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651760"/>
              </a:tblGrid>
              <a:tr h="28575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기존 방식</a:t>
                      </a:r>
                    </a:p>
                  </a:txBody>
                  <a:tcPr marL="101600" marR="76200" marT="76200" marB="76200"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MUREUM</a:t>
                      </a:r>
                    </a:p>
                  </a:txBody>
                  <a:tcPr marL="101600" marR="76200" marT="76200" marB="76200" anchor="ctr">
                    <a:solidFill>
                      <a:srgbClr val="2C3E6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777777"/>
                          </a:solidFill>
                        </a:defRPr>
                      </a:pPr>
                      <a:r>
                        <a:t>IT팀에 데이터 요청 → 며칠 대기</a:t>
                      </a:r>
                    </a:p>
                  </a:txBody>
                  <a:tcPr marL="101600" marR="76200" marT="76200" marB="762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9ED6"/>
                          </a:solidFill>
                        </a:defRPr>
                      </a:pPr>
                      <a:r>
                        <a:t>직접 질문 → 즉시 결과</a:t>
                      </a:r>
                    </a:p>
                  </a:txBody>
                  <a:tcPr marL="101600" marR="76200" marT="76200" marB="76200" anchor="ctr">
                    <a:solidFill>
                      <a:srgbClr val="F4F7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777777"/>
                          </a:solidFill>
                        </a:defRPr>
                      </a:pPr>
                      <a:r>
                        <a:t>전문 질의문 작성 필요</a:t>
                      </a:r>
                    </a:p>
                  </a:txBody>
                  <a:tcPr marL="101600" marR="762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9ED6"/>
                          </a:solidFill>
                        </a:defRPr>
                      </a:pPr>
                      <a:r>
                        <a:t>일상 언어로 질문</a:t>
                      </a:r>
                    </a:p>
                  </a:txBody>
                  <a:tcPr marL="101600" marR="76200" marT="76200" marB="76200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777777"/>
                          </a:solidFill>
                        </a:defRPr>
                      </a:pPr>
                      <a:r>
                        <a:t>매번 새로 요청</a:t>
                      </a:r>
                    </a:p>
                  </a:txBody>
                  <a:tcPr marL="101600" marR="76200" marT="76200" marB="7620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9ED6"/>
                          </a:solidFill>
                        </a:defRPr>
                      </a:pPr>
                      <a:r>
                        <a:t>이전 대화를 기억하는 연속 질문</a:t>
                      </a:r>
                    </a:p>
                  </a:txBody>
                  <a:tcPr marL="101600" marR="76200" marT="76200" marB="76200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0" y="6604000"/>
            <a:ext cx="12191695" cy="25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6629400"/>
            <a:ext cx="4572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 i="1">
                <a:solidFill>
                  <a:srgbClr val="8899BB"/>
                </a:solidFill>
              </a:defRPr>
            </a:pPr>
            <a:r>
              <a:t>MUREUM — 물어보세요, 데이터가 답합니다.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