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6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76200"/>
            <a:ext cx="10972800" cy="55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9EDB"/>
                </a:solidFill>
              </a:rPr>
              <a:t>01  </a:t>
            </a:r>
            <a:r>
              <a:rPr sz="2400" b="1">
                <a:solidFill>
                  <a:srgbClr val="FFFFFF"/>
                </a:solidFill>
              </a:rPr>
              <a:t>MUREUM 시스템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838200"/>
            <a:ext cx="566928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>
                <a:solidFill>
                  <a:srgbClr val="5A5A5A"/>
                </a:solidFill>
              </a:defRPr>
            </a:pPr>
            <a:r>
              <a:t>MUREUM은 기업 내 축적된 비정형 문서와 정형 데이터베이스를 자연어 대화만으로 통합 검색·분석·시각화할 수 있는 엔터프라이즈 AI 지식기반 어시스턴트입니다.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1422400"/>
            <a:ext cx="1270000" cy="279400"/>
          </a:xfrm>
          <a:prstGeom prst="roundRect">
            <a:avLst>
              <a:gd name="adj" fmla="val 30000"/>
            </a:avLst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핵심 기술 스택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8000" y="1778000"/>
          <a:ext cx="5669280" cy="1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754880"/>
              </a:tblGrid>
              <a:tr h="2794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 marL="76200" marR="50800" marT="38100" marB="38100"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기술 내용</a:t>
                      </a:r>
                    </a:p>
                  </a:txBody>
                  <a:tcPr marL="76200" marR="50800" marT="38100" marB="38100" anchor="ctr">
                    <a:solidFill>
                      <a:srgbClr val="2C3E6B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AI 엔진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LangGraph 기반 ReAct Agent + RAG + NL2SQL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 marL="76200" marR="50800" marT="38100" marB="381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OpenAI GPT-4o · Anthropic Claude · Google Gemini (멀티 프로바이더)</a:t>
                      </a:r>
                    </a:p>
                  </a:txBody>
                  <a:tcPr marL="76200" marR="50800" marT="38100" marB="38100" anchor="ctr">
                    <a:solidFill>
                      <a:srgbClr val="F5F8FC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벡터 검색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PostgreSQL pgvector + 하이브리드 검색 (벡터 + 키워드 + RRF)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백엔드</a:t>
                      </a:r>
                    </a:p>
                  </a:txBody>
                  <a:tcPr marL="76200" marR="50800" marT="38100" marB="381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FastAPI (Python 3.13) + SSE 실시간 스트리밍</a:t>
                      </a:r>
                    </a:p>
                  </a:txBody>
                  <a:tcPr marL="76200" marR="50800" marT="38100" marB="38100" anchor="ctr">
                    <a:solidFill>
                      <a:srgbClr val="F5F8FC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프론트엔드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Vue 3 + ECharts 응답 시각화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보안</a:t>
                      </a:r>
                    </a:p>
                  </a:txBody>
                  <a:tcPr marL="76200" marR="50800" marT="38100" marB="381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JWT 인증 + 2계층 RBAC + PII 자동 마스킹</a:t>
                      </a:r>
                    </a:p>
                  </a:txBody>
                  <a:tcPr marL="76200" marR="50800" marT="38100" marB="381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116320" y="838200"/>
            <a:ext cx="25400" cy="53340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9520" y="838200"/>
            <a:ext cx="530352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B2A4A"/>
                </a:solidFill>
              </a:rPr>
              <a:t>핵심 기능 — </a:t>
            </a:r>
            <a:r>
              <a:rPr sz="1400" b="1">
                <a:solidFill>
                  <a:srgbClr val="009EDB"/>
                </a:solidFill>
              </a:rPr>
              <a:t>NL2SQL 자연어 데이터베이스 검색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19520" y="1270000"/>
            <a:ext cx="1143000" cy="279400"/>
          </a:xfrm>
          <a:prstGeom prst="roundRect">
            <a:avLst>
              <a:gd name="adj" fmla="val 30000"/>
            </a:avLst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동작 프로세스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19520" y="1651000"/>
            <a:ext cx="914400" cy="330200"/>
          </a:xfrm>
          <a:prstGeom prst="roundRect">
            <a:avLst>
              <a:gd name="adj" fmla="val 25000"/>
            </a:avLst>
          </a:prstGeom>
          <a:solidFill>
            <a:srgbClr val="00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사용자 질문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33920" y="1727200"/>
            <a:ext cx="203200" cy="1778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37120" y="1651000"/>
            <a:ext cx="914400" cy="330200"/>
          </a:xfrm>
          <a:prstGeom prst="roundRect">
            <a:avLst>
              <a:gd name="adj" fmla="val 25000"/>
            </a:avLst>
          </a:prstGeom>
          <a:solidFill>
            <a:srgbClr val="00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의도 분석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351520" y="1727200"/>
            <a:ext cx="203200" cy="1778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54720" y="1651000"/>
            <a:ext cx="914400" cy="330200"/>
          </a:xfrm>
          <a:prstGeom prst="roundRect">
            <a:avLst>
              <a:gd name="adj" fmla="val 25000"/>
            </a:avLst>
          </a:prstGeom>
          <a:solidFill>
            <a:srgbClr val="00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스키마 매칭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69120" y="1727200"/>
            <a:ext cx="203200" cy="1778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72320" y="1651000"/>
            <a:ext cx="914400" cy="330200"/>
          </a:xfrm>
          <a:prstGeom prst="roundRect">
            <a:avLst>
              <a:gd name="adj" fmla="val 25000"/>
            </a:avLst>
          </a:prstGeom>
          <a:solidFill>
            <a:srgbClr val="00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SQL 생성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586720" y="1727200"/>
            <a:ext cx="203200" cy="1778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789920" y="1651000"/>
            <a:ext cx="914400" cy="330200"/>
          </a:xfrm>
          <a:prstGeom prst="roundRect">
            <a:avLst>
              <a:gd name="adj" fmla="val 25000"/>
            </a:avLst>
          </a:prstGeom>
          <a:solidFill>
            <a:srgbClr val="00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검증/실행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1704320" y="1727200"/>
            <a:ext cx="203200" cy="1778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907520" y="1651000"/>
            <a:ext cx="914400" cy="330200"/>
          </a:xfrm>
          <a:prstGeom prst="roundRect">
            <a:avLst>
              <a:gd name="adj" fmla="val 25000"/>
            </a:avLst>
          </a:prstGeom>
          <a:solidFill>
            <a:srgbClr val="00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PII 필터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2821920" y="1727200"/>
            <a:ext cx="203200" cy="1778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025120" y="1651000"/>
            <a:ext cx="914400" cy="330200"/>
          </a:xfrm>
          <a:prstGeom prst="roundRect">
            <a:avLst>
              <a:gd name="adj" fmla="val 25000"/>
            </a:avLst>
          </a:prstGeom>
          <a:solidFill>
            <a:srgbClr val="00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답변 생성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9520" y="2159000"/>
            <a:ext cx="1143000" cy="279400"/>
          </a:xfrm>
          <a:prstGeom prst="roundRect">
            <a:avLst>
              <a:gd name="adj" fmla="val 30000"/>
            </a:avLst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핵심 차별성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319520" y="2514600"/>
          <a:ext cx="530352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840480"/>
              </a:tblGrid>
              <a:tr h="3556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기능</a:t>
                      </a:r>
                    </a:p>
                  </a:txBody>
                  <a:tcPr marL="101600" marR="76200" marT="50800" marB="50800"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 marL="101600" marR="76200" marT="50800" marB="50800" anchor="ctr">
                    <a:solidFill>
                      <a:srgbClr val="2C3E6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9EDB"/>
                          </a:solidFill>
                        </a:defRPr>
                      </a:pPr>
                      <a:r>
                        <a:t>멀티턴 대화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"부서별 인원수 알려줘" → "그 중 개발팀만 연봉 순으로 보여줘"처럼 이전 맥락을 이해하는 연속 대화를 지원합니다.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9EDB"/>
                          </a:solidFill>
                        </a:defRPr>
                      </a:pPr>
                      <a:r>
                        <a:t>의도 재작성 (Intent Rewrite)</a:t>
                      </a:r>
                    </a:p>
                  </a:txBody>
                  <a:tcPr marL="101600" marR="76200" marT="50800" marB="508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대화 이력을 분석하여 모호하거나 불완전한 질문을 완전한 질문으로 자동 재구성합니다.</a:t>
                      </a:r>
                    </a:p>
                  </a:txBody>
                  <a:tcPr marL="101600" marR="76200" marT="50800" marB="50800" anchor="ctr">
                    <a:solidFill>
                      <a:srgbClr val="F5F8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9EDB"/>
                          </a:solidFill>
                        </a:defRPr>
                      </a:pPr>
                      <a:r>
                        <a:t>자동 재시도 (Auto-Retry)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SQL 오류 발생 시 오류 원인을 분석하여 자동으로 수정된 SQL을 재생성합니다.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9EDB"/>
                          </a:solidFill>
                        </a:defRPr>
                      </a:pPr>
                      <a:r>
                        <a:t>SQL 안전장치</a:t>
                      </a:r>
                    </a:p>
                  </a:txBody>
                  <a:tcPr marL="101600" marR="76200" marT="50800" marB="508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2D2D"/>
                          </a:solidFill>
                        </a:defRPr>
                      </a:pPr>
                      <a:r>
                        <a:t>SELECT만 허용, DDL/DML 키워드 블랙리스트, 테이블 화이트리스트, 실행 타임아웃 30초 제한.</a:t>
                      </a:r>
                    </a:p>
                  </a:txBody>
                  <a:tcPr marL="101600" marR="76200" marT="50800" marB="508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8000" y="6642100"/>
            <a:ext cx="36576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899BB"/>
                </a:solidFill>
              </a:defRPr>
            </a:pPr>
            <a:r>
              <a:t>MUREUM — 물어보세요, 데이터가 답합니다.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29695" y="6642100"/>
            <a:ext cx="5080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99B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